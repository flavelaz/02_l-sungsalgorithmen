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265" r:id="rId4"/>
    <p:sldId id="261" r:id="rId5"/>
    <p:sldId id="260" r:id="rId6"/>
    <p:sldId id="262" r:id="rId7"/>
    <p:sldId id="256" r:id="rId8"/>
    <p:sldId id="257" r:id="rId9"/>
    <p:sldId id="258" r:id="rId1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8" d="100"/>
          <a:sy n="118" d="100"/>
        </p:scale>
        <p:origin x="22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endParaRPr lang="de-CH"/>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de-CH"/>
          </a:p>
        </p:txBody>
      </p:sp>
      <p:sp>
        <p:nvSpPr>
          <p:cNvPr id="4" name="Datumsplatzhalter 3"/>
          <p:cNvSpPr>
            <a:spLocks noGrp="1"/>
          </p:cNvSpPr>
          <p:nvPr>
            <p:ph type="dt" sz="half" idx="10"/>
          </p:nvPr>
        </p:nvSpPr>
        <p:spPr/>
        <p:txBody>
          <a:bodyPr/>
          <a:lstStyle/>
          <a:p>
            <a:fld id="{B473D702-873C-4F41-AC8E-BB44DE40B664}" type="datetimeFigureOut">
              <a:rPr lang="de-CH" smtClean="0"/>
              <a:t>10.12.25</a:t>
            </a:fld>
            <a:endParaRPr lang="de-CH"/>
          </a:p>
        </p:txBody>
      </p:sp>
      <p:sp>
        <p:nvSpPr>
          <p:cNvPr id="5" name="Fußzeilenplatzhalter 4"/>
          <p:cNvSpPr>
            <a:spLocks noGrp="1"/>
          </p:cNvSpPr>
          <p:nvPr>
            <p:ph type="ftr" sz="quarter" idx="11"/>
          </p:nvPr>
        </p:nvSpPr>
        <p:spPr/>
        <p:txBody>
          <a:bodyPr/>
          <a:lstStyle/>
          <a:p>
            <a:endParaRPr lang="de-CH"/>
          </a:p>
        </p:txBody>
      </p:sp>
      <p:sp>
        <p:nvSpPr>
          <p:cNvPr id="6" name="Foliennummernplatzhalter 5"/>
          <p:cNvSpPr>
            <a:spLocks noGrp="1"/>
          </p:cNvSpPr>
          <p:nvPr>
            <p:ph type="sldNum" sz="quarter" idx="12"/>
          </p:nvPr>
        </p:nvSpPr>
        <p:spPr/>
        <p:txBody>
          <a:bodyPr/>
          <a:lstStyle/>
          <a:p>
            <a:fld id="{06C34570-ABB8-417B-8052-7E90859A6A7F}" type="slidenum">
              <a:rPr lang="de-CH" smtClean="0"/>
              <a:t>‹Nr.›</a:t>
            </a:fld>
            <a:endParaRPr lang="de-CH"/>
          </a:p>
        </p:txBody>
      </p:sp>
    </p:spTree>
    <p:extLst>
      <p:ext uri="{BB962C8B-B14F-4D97-AF65-F5344CB8AC3E}">
        <p14:creationId xmlns:p14="http://schemas.microsoft.com/office/powerpoint/2010/main" val="1643786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CH"/>
          </a:p>
        </p:txBody>
      </p:sp>
      <p:sp>
        <p:nvSpPr>
          <p:cNvPr id="3" name="Inhaltsplatzhalter 2"/>
          <p:cNvSpPr>
            <a:spLocks noGrp="1"/>
          </p:cNvSpPr>
          <p:nvPr>
            <p:ph idx="1"/>
          </p:nvPr>
        </p:nvSpPr>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p:cNvSpPr>
            <a:spLocks noGrp="1"/>
          </p:cNvSpPr>
          <p:nvPr>
            <p:ph type="dt" sz="half" idx="10"/>
          </p:nvPr>
        </p:nvSpPr>
        <p:spPr/>
        <p:txBody>
          <a:bodyPr/>
          <a:lstStyle/>
          <a:p>
            <a:fld id="{B473D702-873C-4F41-AC8E-BB44DE40B664}" type="datetimeFigureOut">
              <a:rPr lang="de-CH" smtClean="0"/>
              <a:t>10.12.25</a:t>
            </a:fld>
            <a:endParaRPr lang="de-CH"/>
          </a:p>
        </p:txBody>
      </p:sp>
      <p:sp>
        <p:nvSpPr>
          <p:cNvPr id="5" name="Fußzeilenplatzhalter 4"/>
          <p:cNvSpPr>
            <a:spLocks noGrp="1"/>
          </p:cNvSpPr>
          <p:nvPr>
            <p:ph type="ftr" sz="quarter" idx="11"/>
          </p:nvPr>
        </p:nvSpPr>
        <p:spPr/>
        <p:txBody>
          <a:bodyPr/>
          <a:lstStyle/>
          <a:p>
            <a:endParaRPr lang="de-CH"/>
          </a:p>
        </p:txBody>
      </p:sp>
      <p:sp>
        <p:nvSpPr>
          <p:cNvPr id="6" name="Foliennummernplatzhalter 5"/>
          <p:cNvSpPr>
            <a:spLocks noGrp="1"/>
          </p:cNvSpPr>
          <p:nvPr>
            <p:ph type="sldNum" sz="quarter" idx="12"/>
          </p:nvPr>
        </p:nvSpPr>
        <p:spPr/>
        <p:txBody>
          <a:bodyPr/>
          <a:lstStyle/>
          <a:p>
            <a:fld id="{06C34570-ABB8-417B-8052-7E90859A6A7F}" type="slidenum">
              <a:rPr lang="de-CH" smtClean="0"/>
              <a:t>‹Nr.›</a:t>
            </a:fld>
            <a:endParaRPr lang="de-CH"/>
          </a:p>
        </p:txBody>
      </p:sp>
    </p:spTree>
    <p:extLst>
      <p:ext uri="{BB962C8B-B14F-4D97-AF65-F5344CB8AC3E}">
        <p14:creationId xmlns:p14="http://schemas.microsoft.com/office/powerpoint/2010/main" val="2794283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endParaRPr lang="de-CH"/>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Textmasterformat bearbeiten</a:t>
            </a:r>
          </a:p>
        </p:txBody>
      </p:sp>
      <p:sp>
        <p:nvSpPr>
          <p:cNvPr id="4" name="Datumsplatzhalter 3"/>
          <p:cNvSpPr>
            <a:spLocks noGrp="1"/>
          </p:cNvSpPr>
          <p:nvPr>
            <p:ph type="dt" sz="half" idx="10"/>
          </p:nvPr>
        </p:nvSpPr>
        <p:spPr/>
        <p:txBody>
          <a:bodyPr/>
          <a:lstStyle/>
          <a:p>
            <a:fld id="{B473D702-873C-4F41-AC8E-BB44DE40B664}" type="datetimeFigureOut">
              <a:rPr lang="de-CH" smtClean="0"/>
              <a:t>10.12.25</a:t>
            </a:fld>
            <a:endParaRPr lang="de-CH"/>
          </a:p>
        </p:txBody>
      </p:sp>
      <p:sp>
        <p:nvSpPr>
          <p:cNvPr id="5" name="Fußzeilenplatzhalter 4"/>
          <p:cNvSpPr>
            <a:spLocks noGrp="1"/>
          </p:cNvSpPr>
          <p:nvPr>
            <p:ph type="ftr" sz="quarter" idx="11"/>
          </p:nvPr>
        </p:nvSpPr>
        <p:spPr/>
        <p:txBody>
          <a:bodyPr/>
          <a:lstStyle/>
          <a:p>
            <a:endParaRPr lang="de-CH"/>
          </a:p>
        </p:txBody>
      </p:sp>
      <p:sp>
        <p:nvSpPr>
          <p:cNvPr id="6" name="Foliennummernplatzhalter 5"/>
          <p:cNvSpPr>
            <a:spLocks noGrp="1"/>
          </p:cNvSpPr>
          <p:nvPr>
            <p:ph type="sldNum" sz="quarter" idx="12"/>
          </p:nvPr>
        </p:nvSpPr>
        <p:spPr/>
        <p:txBody>
          <a:bodyPr/>
          <a:lstStyle/>
          <a:p>
            <a:fld id="{06C34570-ABB8-417B-8052-7E90859A6A7F}" type="slidenum">
              <a:rPr lang="de-CH" smtClean="0"/>
              <a:t>‹Nr.›</a:t>
            </a:fld>
            <a:endParaRPr lang="de-CH"/>
          </a:p>
        </p:txBody>
      </p:sp>
    </p:spTree>
    <p:extLst>
      <p:ext uri="{BB962C8B-B14F-4D97-AF65-F5344CB8AC3E}">
        <p14:creationId xmlns:p14="http://schemas.microsoft.com/office/powerpoint/2010/main" val="244977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CH"/>
          </a:p>
        </p:txBody>
      </p:sp>
      <p:sp>
        <p:nvSpPr>
          <p:cNvPr id="3" name="Inhaltsplatzhalter 2"/>
          <p:cNvSpPr>
            <a:spLocks noGrp="1"/>
          </p:cNvSpPr>
          <p:nvPr>
            <p:ph sz="half" idx="1"/>
          </p:nvPr>
        </p:nvSpPr>
        <p:spPr>
          <a:xfrm>
            <a:off x="838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Inhaltsplatzhalter 3"/>
          <p:cNvSpPr>
            <a:spLocks noGrp="1"/>
          </p:cNvSpPr>
          <p:nvPr>
            <p:ph sz="half" idx="2"/>
          </p:nvPr>
        </p:nvSpPr>
        <p:spPr>
          <a:xfrm>
            <a:off x="6172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Datumsplatzhalter 4"/>
          <p:cNvSpPr>
            <a:spLocks noGrp="1"/>
          </p:cNvSpPr>
          <p:nvPr>
            <p:ph type="dt" sz="half" idx="10"/>
          </p:nvPr>
        </p:nvSpPr>
        <p:spPr/>
        <p:txBody>
          <a:bodyPr/>
          <a:lstStyle/>
          <a:p>
            <a:fld id="{B473D702-873C-4F41-AC8E-BB44DE40B664}" type="datetimeFigureOut">
              <a:rPr lang="de-CH" smtClean="0"/>
              <a:t>10.12.25</a:t>
            </a:fld>
            <a:endParaRPr lang="de-CH"/>
          </a:p>
        </p:txBody>
      </p:sp>
      <p:sp>
        <p:nvSpPr>
          <p:cNvPr id="6" name="Fußzeilenplatzhalter 5"/>
          <p:cNvSpPr>
            <a:spLocks noGrp="1"/>
          </p:cNvSpPr>
          <p:nvPr>
            <p:ph type="ftr" sz="quarter" idx="11"/>
          </p:nvPr>
        </p:nvSpPr>
        <p:spPr/>
        <p:txBody>
          <a:bodyPr/>
          <a:lstStyle/>
          <a:p>
            <a:endParaRPr lang="de-CH"/>
          </a:p>
        </p:txBody>
      </p:sp>
      <p:sp>
        <p:nvSpPr>
          <p:cNvPr id="7" name="Foliennummernplatzhalter 6"/>
          <p:cNvSpPr>
            <a:spLocks noGrp="1"/>
          </p:cNvSpPr>
          <p:nvPr>
            <p:ph type="sldNum" sz="quarter" idx="12"/>
          </p:nvPr>
        </p:nvSpPr>
        <p:spPr/>
        <p:txBody>
          <a:bodyPr/>
          <a:lstStyle/>
          <a:p>
            <a:fld id="{06C34570-ABB8-417B-8052-7E90859A6A7F}" type="slidenum">
              <a:rPr lang="de-CH" smtClean="0"/>
              <a:t>‹Nr.›</a:t>
            </a:fld>
            <a:endParaRPr lang="de-CH"/>
          </a:p>
        </p:txBody>
      </p:sp>
    </p:spTree>
    <p:extLst>
      <p:ext uri="{BB962C8B-B14F-4D97-AF65-F5344CB8AC3E}">
        <p14:creationId xmlns:p14="http://schemas.microsoft.com/office/powerpoint/2010/main" val="672927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endParaRPr lang="de-CH"/>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839788" y="2505075"/>
            <a:ext cx="5157787"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7" name="Datumsplatzhalter 6"/>
          <p:cNvSpPr>
            <a:spLocks noGrp="1"/>
          </p:cNvSpPr>
          <p:nvPr>
            <p:ph type="dt" sz="half" idx="10"/>
          </p:nvPr>
        </p:nvSpPr>
        <p:spPr/>
        <p:txBody>
          <a:bodyPr/>
          <a:lstStyle/>
          <a:p>
            <a:fld id="{B473D702-873C-4F41-AC8E-BB44DE40B664}" type="datetimeFigureOut">
              <a:rPr lang="de-CH" smtClean="0"/>
              <a:t>10.12.25</a:t>
            </a:fld>
            <a:endParaRPr lang="de-CH"/>
          </a:p>
        </p:txBody>
      </p:sp>
      <p:sp>
        <p:nvSpPr>
          <p:cNvPr id="8" name="Fußzeilenplatzhalter 7"/>
          <p:cNvSpPr>
            <a:spLocks noGrp="1"/>
          </p:cNvSpPr>
          <p:nvPr>
            <p:ph type="ftr" sz="quarter" idx="11"/>
          </p:nvPr>
        </p:nvSpPr>
        <p:spPr/>
        <p:txBody>
          <a:bodyPr/>
          <a:lstStyle/>
          <a:p>
            <a:endParaRPr lang="de-CH"/>
          </a:p>
        </p:txBody>
      </p:sp>
      <p:sp>
        <p:nvSpPr>
          <p:cNvPr id="9" name="Foliennummernplatzhalter 8"/>
          <p:cNvSpPr>
            <a:spLocks noGrp="1"/>
          </p:cNvSpPr>
          <p:nvPr>
            <p:ph type="sldNum" sz="quarter" idx="12"/>
          </p:nvPr>
        </p:nvSpPr>
        <p:spPr/>
        <p:txBody>
          <a:bodyPr/>
          <a:lstStyle/>
          <a:p>
            <a:fld id="{06C34570-ABB8-417B-8052-7E90859A6A7F}" type="slidenum">
              <a:rPr lang="de-CH" smtClean="0"/>
              <a:t>‹Nr.›</a:t>
            </a:fld>
            <a:endParaRPr lang="de-CH"/>
          </a:p>
        </p:txBody>
      </p:sp>
    </p:spTree>
    <p:extLst>
      <p:ext uri="{BB962C8B-B14F-4D97-AF65-F5344CB8AC3E}">
        <p14:creationId xmlns:p14="http://schemas.microsoft.com/office/powerpoint/2010/main" val="2727671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CH"/>
          </a:p>
        </p:txBody>
      </p:sp>
      <p:sp>
        <p:nvSpPr>
          <p:cNvPr id="3" name="Datumsplatzhalter 2"/>
          <p:cNvSpPr>
            <a:spLocks noGrp="1"/>
          </p:cNvSpPr>
          <p:nvPr>
            <p:ph type="dt" sz="half" idx="10"/>
          </p:nvPr>
        </p:nvSpPr>
        <p:spPr/>
        <p:txBody>
          <a:bodyPr/>
          <a:lstStyle/>
          <a:p>
            <a:fld id="{B473D702-873C-4F41-AC8E-BB44DE40B664}" type="datetimeFigureOut">
              <a:rPr lang="de-CH" smtClean="0"/>
              <a:t>10.12.25</a:t>
            </a:fld>
            <a:endParaRPr lang="de-CH"/>
          </a:p>
        </p:txBody>
      </p:sp>
      <p:sp>
        <p:nvSpPr>
          <p:cNvPr id="4" name="Fußzeilenplatzhalter 3"/>
          <p:cNvSpPr>
            <a:spLocks noGrp="1"/>
          </p:cNvSpPr>
          <p:nvPr>
            <p:ph type="ftr" sz="quarter" idx="11"/>
          </p:nvPr>
        </p:nvSpPr>
        <p:spPr/>
        <p:txBody>
          <a:bodyPr/>
          <a:lstStyle/>
          <a:p>
            <a:endParaRPr lang="de-CH"/>
          </a:p>
        </p:txBody>
      </p:sp>
      <p:sp>
        <p:nvSpPr>
          <p:cNvPr id="5" name="Foliennummernplatzhalter 4"/>
          <p:cNvSpPr>
            <a:spLocks noGrp="1"/>
          </p:cNvSpPr>
          <p:nvPr>
            <p:ph type="sldNum" sz="quarter" idx="12"/>
          </p:nvPr>
        </p:nvSpPr>
        <p:spPr/>
        <p:txBody>
          <a:bodyPr/>
          <a:lstStyle/>
          <a:p>
            <a:fld id="{06C34570-ABB8-417B-8052-7E90859A6A7F}" type="slidenum">
              <a:rPr lang="de-CH" smtClean="0"/>
              <a:t>‹Nr.›</a:t>
            </a:fld>
            <a:endParaRPr lang="de-CH"/>
          </a:p>
        </p:txBody>
      </p:sp>
    </p:spTree>
    <p:extLst>
      <p:ext uri="{BB962C8B-B14F-4D97-AF65-F5344CB8AC3E}">
        <p14:creationId xmlns:p14="http://schemas.microsoft.com/office/powerpoint/2010/main" val="1140669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473D702-873C-4F41-AC8E-BB44DE40B664}" type="datetimeFigureOut">
              <a:rPr lang="de-CH" smtClean="0"/>
              <a:t>10.12.25</a:t>
            </a:fld>
            <a:endParaRPr lang="de-CH"/>
          </a:p>
        </p:txBody>
      </p:sp>
      <p:sp>
        <p:nvSpPr>
          <p:cNvPr id="3" name="Fußzeilenplatzhalter 2"/>
          <p:cNvSpPr>
            <a:spLocks noGrp="1"/>
          </p:cNvSpPr>
          <p:nvPr>
            <p:ph type="ftr" sz="quarter" idx="11"/>
          </p:nvPr>
        </p:nvSpPr>
        <p:spPr/>
        <p:txBody>
          <a:bodyPr/>
          <a:lstStyle/>
          <a:p>
            <a:endParaRPr lang="de-CH"/>
          </a:p>
        </p:txBody>
      </p:sp>
      <p:sp>
        <p:nvSpPr>
          <p:cNvPr id="4" name="Foliennummernplatzhalter 3"/>
          <p:cNvSpPr>
            <a:spLocks noGrp="1"/>
          </p:cNvSpPr>
          <p:nvPr>
            <p:ph type="sldNum" sz="quarter" idx="12"/>
          </p:nvPr>
        </p:nvSpPr>
        <p:spPr/>
        <p:txBody>
          <a:bodyPr/>
          <a:lstStyle/>
          <a:p>
            <a:fld id="{06C34570-ABB8-417B-8052-7E90859A6A7F}" type="slidenum">
              <a:rPr lang="de-CH" smtClean="0"/>
              <a:t>‹Nr.›</a:t>
            </a:fld>
            <a:endParaRPr lang="de-CH"/>
          </a:p>
        </p:txBody>
      </p:sp>
    </p:spTree>
    <p:extLst>
      <p:ext uri="{BB962C8B-B14F-4D97-AF65-F5344CB8AC3E}">
        <p14:creationId xmlns:p14="http://schemas.microsoft.com/office/powerpoint/2010/main" val="12724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endParaRPr lang="de-CH"/>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B473D702-873C-4F41-AC8E-BB44DE40B664}" type="datetimeFigureOut">
              <a:rPr lang="de-CH" smtClean="0"/>
              <a:t>10.12.25</a:t>
            </a:fld>
            <a:endParaRPr lang="de-CH"/>
          </a:p>
        </p:txBody>
      </p:sp>
      <p:sp>
        <p:nvSpPr>
          <p:cNvPr id="6" name="Fußzeilenplatzhalter 5"/>
          <p:cNvSpPr>
            <a:spLocks noGrp="1"/>
          </p:cNvSpPr>
          <p:nvPr>
            <p:ph type="ftr" sz="quarter" idx="11"/>
          </p:nvPr>
        </p:nvSpPr>
        <p:spPr/>
        <p:txBody>
          <a:bodyPr/>
          <a:lstStyle/>
          <a:p>
            <a:endParaRPr lang="de-CH"/>
          </a:p>
        </p:txBody>
      </p:sp>
      <p:sp>
        <p:nvSpPr>
          <p:cNvPr id="7" name="Foliennummernplatzhalter 6"/>
          <p:cNvSpPr>
            <a:spLocks noGrp="1"/>
          </p:cNvSpPr>
          <p:nvPr>
            <p:ph type="sldNum" sz="quarter" idx="12"/>
          </p:nvPr>
        </p:nvSpPr>
        <p:spPr/>
        <p:txBody>
          <a:bodyPr/>
          <a:lstStyle/>
          <a:p>
            <a:fld id="{06C34570-ABB8-417B-8052-7E90859A6A7F}" type="slidenum">
              <a:rPr lang="de-CH" smtClean="0"/>
              <a:t>‹Nr.›</a:t>
            </a:fld>
            <a:endParaRPr lang="de-CH"/>
          </a:p>
        </p:txBody>
      </p:sp>
    </p:spTree>
    <p:extLst>
      <p:ext uri="{BB962C8B-B14F-4D97-AF65-F5344CB8AC3E}">
        <p14:creationId xmlns:p14="http://schemas.microsoft.com/office/powerpoint/2010/main" val="3394995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endParaRPr lang="de-CH"/>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B473D702-873C-4F41-AC8E-BB44DE40B664}" type="datetimeFigureOut">
              <a:rPr lang="de-CH" smtClean="0"/>
              <a:t>10.12.25</a:t>
            </a:fld>
            <a:endParaRPr lang="de-CH"/>
          </a:p>
        </p:txBody>
      </p:sp>
      <p:sp>
        <p:nvSpPr>
          <p:cNvPr id="6" name="Fußzeilenplatzhalter 5"/>
          <p:cNvSpPr>
            <a:spLocks noGrp="1"/>
          </p:cNvSpPr>
          <p:nvPr>
            <p:ph type="ftr" sz="quarter" idx="11"/>
          </p:nvPr>
        </p:nvSpPr>
        <p:spPr/>
        <p:txBody>
          <a:bodyPr/>
          <a:lstStyle/>
          <a:p>
            <a:endParaRPr lang="de-CH"/>
          </a:p>
        </p:txBody>
      </p:sp>
      <p:sp>
        <p:nvSpPr>
          <p:cNvPr id="7" name="Foliennummernplatzhalter 6"/>
          <p:cNvSpPr>
            <a:spLocks noGrp="1"/>
          </p:cNvSpPr>
          <p:nvPr>
            <p:ph type="sldNum" sz="quarter" idx="12"/>
          </p:nvPr>
        </p:nvSpPr>
        <p:spPr/>
        <p:txBody>
          <a:bodyPr/>
          <a:lstStyle/>
          <a:p>
            <a:fld id="{06C34570-ABB8-417B-8052-7E90859A6A7F}" type="slidenum">
              <a:rPr lang="de-CH" smtClean="0"/>
              <a:t>‹Nr.›</a:t>
            </a:fld>
            <a:endParaRPr lang="de-CH"/>
          </a:p>
        </p:txBody>
      </p:sp>
    </p:spTree>
    <p:extLst>
      <p:ext uri="{BB962C8B-B14F-4D97-AF65-F5344CB8AC3E}">
        <p14:creationId xmlns:p14="http://schemas.microsoft.com/office/powerpoint/2010/main" val="748709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CH"/>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p:cNvSpPr>
            <a:spLocks noGrp="1"/>
          </p:cNvSpPr>
          <p:nvPr>
            <p:ph type="dt" sz="half" idx="10"/>
          </p:nvPr>
        </p:nvSpPr>
        <p:spPr/>
        <p:txBody>
          <a:bodyPr/>
          <a:lstStyle/>
          <a:p>
            <a:fld id="{B473D702-873C-4F41-AC8E-BB44DE40B664}" type="datetimeFigureOut">
              <a:rPr lang="de-CH" smtClean="0"/>
              <a:t>10.12.25</a:t>
            </a:fld>
            <a:endParaRPr lang="de-CH"/>
          </a:p>
        </p:txBody>
      </p:sp>
      <p:sp>
        <p:nvSpPr>
          <p:cNvPr id="5" name="Fußzeilenplatzhalter 4"/>
          <p:cNvSpPr>
            <a:spLocks noGrp="1"/>
          </p:cNvSpPr>
          <p:nvPr>
            <p:ph type="ftr" sz="quarter" idx="11"/>
          </p:nvPr>
        </p:nvSpPr>
        <p:spPr/>
        <p:txBody>
          <a:bodyPr/>
          <a:lstStyle/>
          <a:p>
            <a:endParaRPr lang="de-CH"/>
          </a:p>
        </p:txBody>
      </p:sp>
      <p:sp>
        <p:nvSpPr>
          <p:cNvPr id="6" name="Foliennummernplatzhalter 5"/>
          <p:cNvSpPr>
            <a:spLocks noGrp="1"/>
          </p:cNvSpPr>
          <p:nvPr>
            <p:ph type="sldNum" sz="quarter" idx="12"/>
          </p:nvPr>
        </p:nvSpPr>
        <p:spPr/>
        <p:txBody>
          <a:bodyPr/>
          <a:lstStyle/>
          <a:p>
            <a:fld id="{06C34570-ABB8-417B-8052-7E90859A6A7F}" type="slidenum">
              <a:rPr lang="de-CH" smtClean="0"/>
              <a:t>‹Nr.›</a:t>
            </a:fld>
            <a:endParaRPr lang="de-CH"/>
          </a:p>
        </p:txBody>
      </p:sp>
    </p:spTree>
    <p:extLst>
      <p:ext uri="{BB962C8B-B14F-4D97-AF65-F5344CB8AC3E}">
        <p14:creationId xmlns:p14="http://schemas.microsoft.com/office/powerpoint/2010/main" val="2454448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endParaRPr lang="de-CH"/>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p:cNvSpPr>
            <a:spLocks noGrp="1"/>
          </p:cNvSpPr>
          <p:nvPr>
            <p:ph type="dt" sz="half" idx="10"/>
          </p:nvPr>
        </p:nvSpPr>
        <p:spPr/>
        <p:txBody>
          <a:bodyPr/>
          <a:lstStyle/>
          <a:p>
            <a:fld id="{B473D702-873C-4F41-AC8E-BB44DE40B664}" type="datetimeFigureOut">
              <a:rPr lang="de-CH" smtClean="0"/>
              <a:t>10.12.25</a:t>
            </a:fld>
            <a:endParaRPr lang="de-CH"/>
          </a:p>
        </p:txBody>
      </p:sp>
      <p:sp>
        <p:nvSpPr>
          <p:cNvPr id="5" name="Fußzeilenplatzhalter 4"/>
          <p:cNvSpPr>
            <a:spLocks noGrp="1"/>
          </p:cNvSpPr>
          <p:nvPr>
            <p:ph type="ftr" sz="quarter" idx="11"/>
          </p:nvPr>
        </p:nvSpPr>
        <p:spPr/>
        <p:txBody>
          <a:bodyPr/>
          <a:lstStyle/>
          <a:p>
            <a:endParaRPr lang="de-CH"/>
          </a:p>
        </p:txBody>
      </p:sp>
      <p:sp>
        <p:nvSpPr>
          <p:cNvPr id="6" name="Foliennummernplatzhalter 5"/>
          <p:cNvSpPr>
            <a:spLocks noGrp="1"/>
          </p:cNvSpPr>
          <p:nvPr>
            <p:ph type="sldNum" sz="quarter" idx="12"/>
          </p:nvPr>
        </p:nvSpPr>
        <p:spPr/>
        <p:txBody>
          <a:bodyPr/>
          <a:lstStyle/>
          <a:p>
            <a:fld id="{06C34570-ABB8-417B-8052-7E90859A6A7F}" type="slidenum">
              <a:rPr lang="de-CH" smtClean="0"/>
              <a:t>‹Nr.›</a:t>
            </a:fld>
            <a:endParaRPr lang="de-CH"/>
          </a:p>
        </p:txBody>
      </p:sp>
    </p:spTree>
    <p:extLst>
      <p:ext uri="{BB962C8B-B14F-4D97-AF65-F5344CB8AC3E}">
        <p14:creationId xmlns:p14="http://schemas.microsoft.com/office/powerpoint/2010/main" val="2326053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endParaRPr lang="de-CH"/>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73D702-873C-4F41-AC8E-BB44DE40B664}" type="datetimeFigureOut">
              <a:rPr lang="de-CH" smtClean="0"/>
              <a:t>10.12.25</a:t>
            </a:fld>
            <a:endParaRPr lang="de-CH"/>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C34570-ABB8-417B-8052-7E90859A6A7F}" type="slidenum">
              <a:rPr lang="de-CH" smtClean="0"/>
              <a:t>‹Nr.›</a:t>
            </a:fld>
            <a:endParaRPr lang="de-CH"/>
          </a:p>
        </p:txBody>
      </p:sp>
    </p:spTree>
    <p:extLst>
      <p:ext uri="{BB962C8B-B14F-4D97-AF65-F5344CB8AC3E}">
        <p14:creationId xmlns:p14="http://schemas.microsoft.com/office/powerpoint/2010/main" val="3194473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6270" y="365126"/>
            <a:ext cx="10617530" cy="1029566"/>
          </a:xfrm>
        </p:spPr>
        <p:txBody>
          <a:bodyPr>
            <a:normAutofit/>
          </a:bodyPr>
          <a:lstStyle/>
          <a:p>
            <a:r>
              <a:rPr lang="de-DE" b="1" dirty="0"/>
              <a:t>Venus Mariner 1 geht 1962 unterwegs verloren</a:t>
            </a:r>
            <a:endParaRPr lang="de-CH" dirty="0"/>
          </a:p>
        </p:txBody>
      </p:sp>
      <p:sp>
        <p:nvSpPr>
          <p:cNvPr id="3" name="Inhaltsplatzhalter 2"/>
          <p:cNvSpPr>
            <a:spLocks noGrp="1"/>
          </p:cNvSpPr>
          <p:nvPr>
            <p:ph idx="1"/>
          </p:nvPr>
        </p:nvSpPr>
        <p:spPr>
          <a:xfrm>
            <a:off x="838200" y="1496291"/>
            <a:ext cx="7593279" cy="4680672"/>
          </a:xfrm>
        </p:spPr>
        <p:txBody>
          <a:bodyPr>
            <a:normAutofit/>
          </a:bodyPr>
          <a:lstStyle/>
          <a:p>
            <a:pPr marL="0" indent="0">
              <a:lnSpc>
                <a:spcPct val="100000"/>
              </a:lnSpc>
              <a:spcBef>
                <a:spcPts val="0"/>
              </a:spcBef>
              <a:buNone/>
            </a:pPr>
            <a:r>
              <a:rPr lang="de-CH" sz="2600" dirty="0"/>
              <a:t>Mariner 1 sollte als extraplanetarische Sonde die Venus erkunden, stattdessen stürzten ihre Trümmer nach 293 Sekunden Flug in die Karibik.</a:t>
            </a:r>
          </a:p>
          <a:p>
            <a:pPr marL="0" indent="0">
              <a:lnSpc>
                <a:spcPct val="100000"/>
              </a:lnSpc>
              <a:spcBef>
                <a:spcPts val="0"/>
              </a:spcBef>
              <a:buNone/>
            </a:pPr>
            <a:endParaRPr lang="de-DE" sz="500" dirty="0"/>
          </a:p>
          <a:p>
            <a:pPr marL="0" indent="0">
              <a:lnSpc>
                <a:spcPct val="100000"/>
              </a:lnSpc>
              <a:spcBef>
                <a:spcPts val="0"/>
              </a:spcBef>
              <a:buNone/>
            </a:pPr>
            <a:r>
              <a:rPr lang="de-DE" sz="2600" dirty="0"/>
              <a:t>Der Grund: </a:t>
            </a:r>
          </a:p>
          <a:p>
            <a:pPr marL="0" indent="0">
              <a:lnSpc>
                <a:spcPct val="100000"/>
              </a:lnSpc>
              <a:spcBef>
                <a:spcPts val="0"/>
              </a:spcBef>
              <a:buNone/>
            </a:pPr>
            <a:r>
              <a:rPr lang="de-CH" sz="2600" dirty="0"/>
              <a:t>Der Programmierer hatte einen Überstrich („¯“) aus den handschriftlichen Notizen nicht ins Steuerungsprogramm (</a:t>
            </a:r>
            <a:r>
              <a:rPr lang="de-DE" sz="2600" dirty="0"/>
              <a:t>FORTRAN-Code)</a:t>
            </a:r>
            <a:r>
              <a:rPr lang="de-CH" sz="2600" dirty="0"/>
              <a:t> übertragen</a:t>
            </a:r>
          </a:p>
          <a:p>
            <a:pPr marL="0" indent="0">
              <a:lnSpc>
                <a:spcPct val="100000"/>
              </a:lnSpc>
              <a:spcBef>
                <a:spcPts val="0"/>
              </a:spcBef>
              <a:buNone/>
            </a:pPr>
            <a:br>
              <a:rPr lang="de-DE" sz="1000" dirty="0"/>
            </a:br>
            <a:r>
              <a:rPr lang="de-DE" sz="2600" dirty="0"/>
              <a:t>'Mit 80 Millionen Dollar der teuerste Bindestrich in der Geschichte der Menschheit.' .</a:t>
            </a:r>
          </a:p>
        </p:txBody>
      </p:sp>
      <p:pic>
        <p:nvPicPr>
          <p:cNvPr id="5" name="Grafik 4">
            <a:extLst>
              <a:ext uri="{FF2B5EF4-FFF2-40B4-BE49-F238E27FC236}">
                <a16:creationId xmlns:a16="http://schemas.microsoft.com/office/drawing/2014/main" id="{CFFB63BE-4219-4865-8087-3041588FA6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31479" y="1219694"/>
            <a:ext cx="3563587" cy="3563587"/>
          </a:xfrm>
          <a:prstGeom prst="rect">
            <a:avLst/>
          </a:prstGeom>
        </p:spPr>
      </p:pic>
    </p:spTree>
    <p:extLst>
      <p:ext uri="{BB962C8B-B14F-4D97-AF65-F5344CB8AC3E}">
        <p14:creationId xmlns:p14="http://schemas.microsoft.com/office/powerpoint/2010/main" val="2137771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40293" y="292400"/>
            <a:ext cx="10515600" cy="1029566"/>
          </a:xfrm>
        </p:spPr>
        <p:txBody>
          <a:bodyPr>
            <a:normAutofit fontScale="90000"/>
          </a:bodyPr>
          <a:lstStyle/>
          <a:p>
            <a:r>
              <a:rPr lang="de-CH" b="1" dirty="0"/>
              <a:t>Stanislaw Petrow verhindert 3.Weltkrieg (1983)</a:t>
            </a:r>
            <a:endParaRPr lang="de-CH" dirty="0"/>
          </a:p>
        </p:txBody>
      </p:sp>
      <p:sp>
        <p:nvSpPr>
          <p:cNvPr id="3" name="Inhaltsplatzhalter 2"/>
          <p:cNvSpPr>
            <a:spLocks noGrp="1"/>
          </p:cNvSpPr>
          <p:nvPr>
            <p:ph idx="1"/>
          </p:nvPr>
        </p:nvSpPr>
        <p:spPr>
          <a:xfrm>
            <a:off x="740293" y="1276660"/>
            <a:ext cx="11012508" cy="4956991"/>
          </a:xfrm>
        </p:spPr>
        <p:txBody>
          <a:bodyPr>
            <a:normAutofit fontScale="85000" lnSpcReduction="20000"/>
          </a:bodyPr>
          <a:lstStyle/>
          <a:p>
            <a:pPr marL="0" indent="0">
              <a:lnSpc>
                <a:spcPct val="100000"/>
              </a:lnSpc>
              <a:spcBef>
                <a:spcPts val="0"/>
              </a:spcBef>
              <a:buNone/>
            </a:pPr>
            <a:r>
              <a:rPr lang="de-CH" sz="2400" dirty="0"/>
              <a:t>Am 26. September 1983 leitet Offizier Petrow eine streng geheime Anlage der sowjetischen Armee südlich von Moskau. Die Anlage ist ein Frühwarnzentrum für feindliche Angriffe mit Atomraketen, ausgerüstet mit damals modernster Computer- und Satellitentechnik.</a:t>
            </a:r>
          </a:p>
          <a:p>
            <a:pPr marL="0" indent="0">
              <a:lnSpc>
                <a:spcPct val="100000"/>
              </a:lnSpc>
              <a:spcBef>
                <a:spcPts val="0"/>
              </a:spcBef>
              <a:buNone/>
            </a:pPr>
            <a:r>
              <a:rPr lang="de-CH" sz="2400" dirty="0"/>
              <a:t>Um 00:15 Uhr, </a:t>
            </a:r>
            <a:r>
              <a:rPr lang="de-CH" sz="2400" dirty="0" err="1"/>
              <a:t>häult</a:t>
            </a:r>
            <a:r>
              <a:rPr lang="de-CH" sz="2400" dirty="0"/>
              <a:t> im Kontrollraum plötzlich eine schrille Sirene auf. Die USA haben eine Interkontinentalrakete gestartet, Ziel Sowjetunion. Vermutete Einschlagzeit: 30 Minuten. Ziel: Grossraum Moskau. Erneut schrillt die Sirene. Das System meldet einen zweiten Angriff, dann einen dritten, einen vierten, einen fünften. </a:t>
            </a:r>
            <a:endParaRPr lang="de-DE" sz="2400" dirty="0"/>
          </a:p>
          <a:p>
            <a:pPr marL="0" indent="0">
              <a:buNone/>
            </a:pPr>
            <a:r>
              <a:rPr lang="de-CH" sz="2400" dirty="0"/>
              <a:t>Die Bildschirme des Überwachungszentrums bleiben trotz des mehrfachen Alarms schwarz. Sie müssten jetzt aber die Raketen anzeigen, die im Anflug sind. Auch würden die Amerikaner bei einem Angriff doch nicht nur fünf Raketen abschiessen, sondern hundert. </a:t>
            </a:r>
          </a:p>
          <a:p>
            <a:pPr marL="0" indent="0">
              <a:buNone/>
            </a:pPr>
            <a:r>
              <a:rPr lang="de-CH" sz="2400" dirty="0"/>
              <a:t>Was zum Teufel geht hier vor? Stanislaw Petrov weiss es nicht. Und er fällt eine einsame Entscheidung. Petrow verheimlicht den Alarm. Er lässt jene Stellen im Politbüro im Unwissen, die in dieser Situation mit ziemlicher Sicherheit den Gegenschlag befehlen würden. Stanislaw Petrov stellt sich gegen die Maschine. Das habe für den Mann ein enormes Risiko bedeutet und ihm unglaublichen Mut abverlangt, sagt Ingeborg Jacobs. Aber gerade dadurch habe er den Weltfrieden gerettet, der an einem seidenen Faden hing. </a:t>
            </a:r>
          </a:p>
          <a:p>
            <a:pPr marL="0" indent="0">
              <a:buNone/>
            </a:pPr>
            <a:r>
              <a:rPr lang="de-CH" sz="2100" dirty="0"/>
              <a:t>Offenbar hatte eine sehr seltene Konstellation der Sonne und des Satelliten </a:t>
            </a:r>
            <a:r>
              <a:rPr lang="de-CH" sz="2100" dirty="0" err="1"/>
              <a:t>dazugeführt</a:t>
            </a:r>
            <a:r>
              <a:rPr lang="de-CH" sz="2100" dirty="0"/>
              <a:t>, dass Strahlen so von der Erdoberfläche in den Satelliten gespiegelt wurden, dass es wie der Start einer Rakete aussah. Und das passierte ausgerechnet über einer Militärbasis. Ein so unwahrscheinlicher Zufall….</a:t>
            </a:r>
            <a:endParaRPr lang="de-DE" sz="2100" b="1" dirty="0"/>
          </a:p>
        </p:txBody>
      </p:sp>
    </p:spTree>
    <p:extLst>
      <p:ext uri="{BB962C8B-B14F-4D97-AF65-F5344CB8AC3E}">
        <p14:creationId xmlns:p14="http://schemas.microsoft.com/office/powerpoint/2010/main" val="591923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40293" y="292400"/>
            <a:ext cx="10515600" cy="1029566"/>
          </a:xfrm>
        </p:spPr>
        <p:txBody>
          <a:bodyPr>
            <a:normAutofit/>
          </a:bodyPr>
          <a:lstStyle/>
          <a:p>
            <a:r>
              <a:rPr lang="de-CH" b="1" dirty="0"/>
              <a:t>Das Denver-Koffer-Debakel (1989)</a:t>
            </a:r>
            <a:endParaRPr lang="de-CH" dirty="0"/>
          </a:p>
        </p:txBody>
      </p:sp>
      <p:sp>
        <p:nvSpPr>
          <p:cNvPr id="3" name="Inhaltsplatzhalter 2"/>
          <p:cNvSpPr>
            <a:spLocks noGrp="1"/>
          </p:cNvSpPr>
          <p:nvPr>
            <p:ph idx="1"/>
          </p:nvPr>
        </p:nvSpPr>
        <p:spPr>
          <a:xfrm>
            <a:off x="740293" y="1276661"/>
            <a:ext cx="11012508" cy="4680672"/>
          </a:xfrm>
        </p:spPr>
        <p:txBody>
          <a:bodyPr>
            <a:normAutofit/>
          </a:bodyPr>
          <a:lstStyle/>
          <a:p>
            <a:pPr marL="0" indent="0">
              <a:lnSpc>
                <a:spcPct val="100000"/>
              </a:lnSpc>
              <a:spcBef>
                <a:spcPts val="0"/>
              </a:spcBef>
              <a:buNone/>
            </a:pPr>
            <a:r>
              <a:rPr lang="de-DE" sz="2400" dirty="0"/>
              <a:t>Bei der Neueröffnung des Flughafens in Denver sollte  voll automatisches Gepäcksystem verwendet werden.  300 Computer, Laserscanner, Photozellen, Ethernet-Netzwerk. Eröffnung des Flughafens wegen Fehler im Gepäcksystem um 16 Monate verspätet. Zerquetschte, verlorene Koffer usw.     </a:t>
            </a:r>
            <a:r>
              <a:rPr lang="de-DE" sz="2400" dirty="0">
                <a:sym typeface="Wingdings" panose="05000000000000000000" pitchFamily="2" charset="2"/>
              </a:rPr>
              <a:t> </a:t>
            </a:r>
            <a:r>
              <a:rPr lang="de-DE" sz="2400" dirty="0"/>
              <a:t>Wieder Gepäck-Sortierung per Hand nötig. </a:t>
            </a:r>
            <a:br>
              <a:rPr lang="de-DE" sz="2400" dirty="0"/>
            </a:br>
            <a:r>
              <a:rPr lang="de-DE" sz="2400" dirty="0"/>
              <a:t>Verlust: ca. 3.2 Milliarden Dollar. </a:t>
            </a:r>
          </a:p>
          <a:p>
            <a:pPr marL="0" indent="0">
              <a:lnSpc>
                <a:spcPct val="100000"/>
              </a:lnSpc>
              <a:spcBef>
                <a:spcPts val="0"/>
              </a:spcBef>
              <a:buNone/>
            </a:pPr>
            <a:endParaRPr lang="de-DE" sz="1100" dirty="0"/>
          </a:p>
          <a:p>
            <a:pPr marL="0" indent="0">
              <a:lnSpc>
                <a:spcPct val="100000"/>
              </a:lnSpc>
              <a:spcBef>
                <a:spcPts val="0"/>
              </a:spcBef>
              <a:buNone/>
            </a:pPr>
            <a:r>
              <a:rPr lang="de-DE" sz="2400" b="1" dirty="0"/>
              <a:t>Teilursache: </a:t>
            </a:r>
            <a:br>
              <a:rPr lang="de-DE" sz="2400" dirty="0"/>
            </a:br>
            <a:r>
              <a:rPr lang="de-DE" sz="2400" dirty="0"/>
              <a:t>Zu viele Nachrichten über Ethernet. Sortier-Anweisungen kamen nicht rechtzeitig </a:t>
            </a:r>
            <a:br>
              <a:rPr lang="de-DE" sz="2400" dirty="0"/>
            </a:br>
            <a:r>
              <a:rPr lang="de-DE" sz="2400" dirty="0"/>
              <a:t>wegen Überlastung des Netzwerks (LAN). </a:t>
            </a:r>
            <a:br>
              <a:rPr lang="de-DE" sz="2400" b="1" dirty="0"/>
            </a:br>
            <a:br>
              <a:rPr lang="de-DE" sz="2400" b="1" dirty="0"/>
            </a:br>
            <a:br>
              <a:rPr lang="de-DE" sz="2400" b="1" dirty="0"/>
            </a:br>
            <a:br>
              <a:rPr lang="de-DE" sz="800" b="1" dirty="0"/>
            </a:br>
            <a:endParaRPr lang="de-DE" sz="800" b="1" dirty="0"/>
          </a:p>
        </p:txBody>
      </p:sp>
      <p:pic>
        <p:nvPicPr>
          <p:cNvPr id="5" name="Picture 2" descr="Bildergebnis für denver koffer debakel">
            <a:extLst>
              <a:ext uri="{FF2B5EF4-FFF2-40B4-BE49-F238E27FC236}">
                <a16:creationId xmlns:a16="http://schemas.microsoft.com/office/drawing/2014/main" id="{C0ED3BA4-93DC-4393-9F53-DE7C864D39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0886" y="4485765"/>
            <a:ext cx="4939732" cy="1738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052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39240" y="278124"/>
            <a:ext cx="10515600" cy="1029566"/>
          </a:xfrm>
        </p:spPr>
        <p:txBody>
          <a:bodyPr/>
          <a:lstStyle/>
          <a:p>
            <a:r>
              <a:rPr lang="de-CH" b="1" dirty="0"/>
              <a:t>Patriot-Raketen-Fehler </a:t>
            </a:r>
            <a:r>
              <a:rPr lang="de-DE" b="1" dirty="0"/>
              <a:t>1991</a:t>
            </a:r>
            <a:endParaRPr lang="de-CH" dirty="0"/>
          </a:p>
        </p:txBody>
      </p:sp>
      <p:sp>
        <p:nvSpPr>
          <p:cNvPr id="3" name="Inhaltsplatzhalter 2"/>
          <p:cNvSpPr>
            <a:spLocks noGrp="1"/>
          </p:cNvSpPr>
          <p:nvPr>
            <p:ph idx="1"/>
          </p:nvPr>
        </p:nvSpPr>
        <p:spPr>
          <a:xfrm>
            <a:off x="639240" y="1169304"/>
            <a:ext cx="7757508" cy="2124501"/>
          </a:xfrm>
        </p:spPr>
        <p:txBody>
          <a:bodyPr>
            <a:normAutofit/>
          </a:bodyPr>
          <a:lstStyle/>
          <a:p>
            <a:pPr marL="0" indent="0">
              <a:lnSpc>
                <a:spcPct val="120000"/>
              </a:lnSpc>
              <a:spcBef>
                <a:spcPts val="0"/>
              </a:spcBef>
              <a:buNone/>
            </a:pPr>
            <a:r>
              <a:rPr lang="de-DE" sz="1800" dirty="0"/>
              <a:t>Während des Golfkriegs verfehlte am 25.2.1991 in </a:t>
            </a:r>
            <a:r>
              <a:rPr lang="de-DE" sz="1800" dirty="0" err="1"/>
              <a:t>Saudiarabien</a:t>
            </a:r>
            <a:r>
              <a:rPr lang="de-DE" sz="1800" dirty="0"/>
              <a:t> eine amerikanische Patriot-Rakete eine irakische Scud-Rakete.  Die Scud-Rakete traf eine Kaserne und tötete 28 Soldaten. </a:t>
            </a:r>
            <a:r>
              <a:rPr lang="de-CH" sz="1800" dirty="0"/>
              <a:t>Die Militärs waren perplex. Die Kaserne war durch ein modernes Abwehrsystem geschützt, die Patriot-Rakete. Sie hätte rechtzeitig abheben und der Scud-Rakete entgegenfliegen sollen, um sie im Fluge abzuschießen. Doch das System hatte versagt.</a:t>
            </a:r>
            <a:endParaRPr lang="de-DE" sz="1800" dirty="0"/>
          </a:p>
        </p:txBody>
      </p:sp>
      <p:pic>
        <p:nvPicPr>
          <p:cNvPr id="5" name="Grafik 4">
            <a:extLst>
              <a:ext uri="{FF2B5EF4-FFF2-40B4-BE49-F238E27FC236}">
                <a16:creationId xmlns:a16="http://schemas.microsoft.com/office/drawing/2014/main" id="{DC1DCA1A-695D-419B-AF6D-286216A10A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1176" y="579369"/>
            <a:ext cx="3240710" cy="2025444"/>
          </a:xfrm>
          <a:prstGeom prst="rect">
            <a:avLst/>
          </a:prstGeom>
        </p:spPr>
      </p:pic>
      <p:sp>
        <p:nvSpPr>
          <p:cNvPr id="6" name="Inhaltsplatzhalter 2">
            <a:extLst>
              <a:ext uri="{FF2B5EF4-FFF2-40B4-BE49-F238E27FC236}">
                <a16:creationId xmlns:a16="http://schemas.microsoft.com/office/drawing/2014/main" id="{3EDB43D2-75C2-4E01-9FA5-945CB3EF47AF}"/>
              </a:ext>
            </a:extLst>
          </p:cNvPr>
          <p:cNvSpPr txBox="1">
            <a:spLocks/>
          </p:cNvSpPr>
          <p:nvPr/>
        </p:nvSpPr>
        <p:spPr>
          <a:xfrm>
            <a:off x="639240" y="3185652"/>
            <a:ext cx="10913519" cy="322006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Font typeface="Arial" panose="020B0604020202020204" pitchFamily="34" charset="0"/>
              <a:buNone/>
            </a:pPr>
            <a:endParaRPr lang="de-DE" sz="800" b="1" dirty="0"/>
          </a:p>
          <a:p>
            <a:pPr marL="0" indent="0">
              <a:lnSpc>
                <a:spcPct val="120000"/>
              </a:lnSpc>
              <a:spcBef>
                <a:spcPts val="0"/>
              </a:spcBef>
              <a:buFont typeface="Arial" panose="020B0604020202020204" pitchFamily="34" charset="0"/>
              <a:buNone/>
            </a:pPr>
            <a:r>
              <a:rPr lang="de-DE" sz="2400" b="1" dirty="0"/>
              <a:t>Ursache und </a:t>
            </a:r>
            <a:r>
              <a:rPr lang="de-CH" sz="2400" b="1" dirty="0"/>
              <a:t>Auswirkungen:</a:t>
            </a:r>
            <a:r>
              <a:rPr lang="de-DE" sz="2400" b="1" dirty="0"/>
              <a:t> </a:t>
            </a:r>
            <a:br>
              <a:rPr lang="de-DE" sz="2400" b="1" dirty="0"/>
            </a:br>
            <a:r>
              <a:rPr lang="de-CH" sz="2400" dirty="0"/>
              <a:t>Die interne Uhr des Raketen-Steuerprogramms rechnet in zehntel Sekunden, das Steuerprogramm selbst aber in Sekunden. Dazu musste die SW umrechnen </a:t>
            </a:r>
            <a:r>
              <a:rPr lang="de-CH" sz="2400" dirty="0">
                <a:sym typeface="Wingdings" panose="05000000000000000000" pitchFamily="2" charset="2"/>
              </a:rPr>
              <a:t></a:t>
            </a:r>
            <a:r>
              <a:rPr lang="de-CH" sz="2400" dirty="0"/>
              <a:t>  1 </a:t>
            </a:r>
            <a:r>
              <a:rPr lang="de-CH" sz="2400" dirty="0" err="1"/>
              <a:t>Zehntelsek</a:t>
            </a:r>
            <a:r>
              <a:rPr lang="de-CH" sz="2400" dirty="0"/>
              <a:t> = 0.1s.</a:t>
            </a:r>
          </a:p>
          <a:p>
            <a:pPr marL="0" indent="0">
              <a:lnSpc>
                <a:spcPct val="120000"/>
              </a:lnSpc>
              <a:spcBef>
                <a:spcPts val="0"/>
              </a:spcBef>
              <a:buFont typeface="Arial" panose="020B0604020202020204" pitchFamily="34" charset="0"/>
              <a:buNone/>
            </a:pPr>
            <a:r>
              <a:rPr lang="de-CH" sz="2400" dirty="0"/>
              <a:t>Durch die </a:t>
            </a:r>
            <a:r>
              <a:rPr lang="de-CH" sz="2400" dirty="0" err="1"/>
              <a:t>Floatingpoint</a:t>
            </a:r>
            <a:r>
              <a:rPr lang="de-CH" sz="2400" dirty="0"/>
              <a:t> Verarbeitung geht Genauigkeit verloren. Rundungsfehler: 0.000000095s </a:t>
            </a:r>
          </a:p>
          <a:p>
            <a:pPr marL="0" indent="0">
              <a:lnSpc>
                <a:spcPct val="120000"/>
              </a:lnSpc>
              <a:spcBef>
                <a:spcPts val="0"/>
              </a:spcBef>
              <a:buFont typeface="Arial" panose="020B0604020202020204" pitchFamily="34" charset="0"/>
              <a:buNone/>
            </a:pPr>
            <a:r>
              <a:rPr lang="de-CH" sz="2400" dirty="0"/>
              <a:t>Wenn das System sehr, sehr lange läuft, dann schaukelt sich dieser Rundungsfehler auf. Wenn dieses System 100 Stunden läuft, dann verrechnet es sich bereits schon um 0,34 Sekunden.“</a:t>
            </a:r>
            <a:br>
              <a:rPr lang="de-DE" sz="2400" b="1" dirty="0"/>
            </a:br>
            <a:endParaRPr lang="de-DE" sz="600" b="1" dirty="0"/>
          </a:p>
          <a:p>
            <a:pPr marL="0" indent="0">
              <a:lnSpc>
                <a:spcPct val="120000"/>
              </a:lnSpc>
              <a:spcBef>
                <a:spcPts val="0"/>
              </a:spcBef>
              <a:buFont typeface="Arial" panose="020B0604020202020204" pitchFamily="34" charset="0"/>
              <a:buNone/>
            </a:pPr>
            <a:r>
              <a:rPr lang="de-CH" sz="2400" dirty="0"/>
              <a:t>Genau das war im Februar 1991 passiert: Der Patriot-Steuercomputer war schon rund 100 Stunden gelaufen, als sich die Scud-Rakete näherte. </a:t>
            </a:r>
            <a:r>
              <a:rPr lang="de-DE" sz="2400" dirty="0"/>
              <a:t>Scud-Geschwindigkeit 1.676 km/s=6034 km/h. Scud fliegt in der Zeit ca. 0.57 km weiter und war damit </a:t>
            </a:r>
            <a:r>
              <a:rPr lang="de-DE" sz="2400" dirty="0" err="1"/>
              <a:t>ausserhalb</a:t>
            </a:r>
            <a:r>
              <a:rPr lang="de-DE" sz="2400" dirty="0"/>
              <a:t> der Reichweite des ``Aufspürsystems'' der Patriot. </a:t>
            </a:r>
            <a:endParaRPr lang="de-CH" sz="2400" dirty="0"/>
          </a:p>
        </p:txBody>
      </p:sp>
    </p:spTree>
    <p:extLst>
      <p:ext uri="{BB962C8B-B14F-4D97-AF65-F5344CB8AC3E}">
        <p14:creationId xmlns:p14="http://schemas.microsoft.com/office/powerpoint/2010/main" val="1772307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b="1" dirty="0"/>
              <a:t>Pentium Prozessor Divisions-Fehler 1994</a:t>
            </a:r>
            <a:endParaRPr lang="de-CH" dirty="0"/>
          </a:p>
        </p:txBody>
      </p:sp>
      <p:sp>
        <p:nvSpPr>
          <p:cNvPr id="3" name="Inhaltsplatzhalter 2"/>
          <p:cNvSpPr>
            <a:spLocks noGrp="1"/>
          </p:cNvSpPr>
          <p:nvPr>
            <p:ph idx="1"/>
          </p:nvPr>
        </p:nvSpPr>
        <p:spPr>
          <a:xfrm>
            <a:off x="838200" y="1496291"/>
            <a:ext cx="10515600" cy="4680672"/>
          </a:xfrm>
        </p:spPr>
        <p:txBody>
          <a:bodyPr>
            <a:normAutofit fontScale="92500" lnSpcReduction="20000"/>
          </a:bodyPr>
          <a:lstStyle/>
          <a:p>
            <a:pPr marL="0" indent="0">
              <a:lnSpc>
                <a:spcPct val="120000"/>
              </a:lnSpc>
              <a:spcBef>
                <a:spcPts val="0"/>
              </a:spcBef>
              <a:buNone/>
            </a:pPr>
            <a:r>
              <a:rPr lang="de-DE" sz="2400" dirty="0"/>
              <a:t>Beispiel:  	x = 4195835.0 </a:t>
            </a:r>
            <a:br>
              <a:rPr lang="de-DE" sz="2400" dirty="0"/>
            </a:br>
            <a:r>
              <a:rPr lang="de-DE" sz="2400" dirty="0"/>
              <a:t>		y = 3145727.0 </a:t>
            </a:r>
            <a:br>
              <a:rPr lang="de-DE" sz="2400" dirty="0"/>
            </a:br>
            <a:r>
              <a:rPr lang="de-DE" sz="2400" dirty="0"/>
              <a:t>		z = x - (x/y) * y </a:t>
            </a:r>
            <a:br>
              <a:rPr lang="de-DE" sz="2400" dirty="0"/>
            </a:br>
            <a:r>
              <a:rPr lang="de-DE" sz="2400" dirty="0"/>
              <a:t>Bei exakter Rechnung und fehlerfreiem Prozessor: 0  </a:t>
            </a:r>
            <a:r>
              <a:rPr lang="de-DE" sz="2400" dirty="0">
                <a:sym typeface="Wingdings" panose="05000000000000000000" pitchFamily="2" charset="2"/>
              </a:rPr>
              <a:t> </a:t>
            </a:r>
            <a:r>
              <a:rPr lang="de-DE" sz="2400" dirty="0"/>
              <a:t>Pentium liefert als Ergebnis: 256</a:t>
            </a:r>
          </a:p>
          <a:p>
            <a:pPr marL="0" indent="0">
              <a:lnSpc>
                <a:spcPct val="120000"/>
              </a:lnSpc>
              <a:spcBef>
                <a:spcPts val="0"/>
              </a:spcBef>
              <a:buNone/>
            </a:pPr>
            <a:endParaRPr lang="de-DE" sz="800" b="1" dirty="0"/>
          </a:p>
          <a:p>
            <a:pPr marL="0" indent="0">
              <a:lnSpc>
                <a:spcPct val="120000"/>
              </a:lnSpc>
              <a:spcBef>
                <a:spcPts val="0"/>
              </a:spcBef>
              <a:buNone/>
            </a:pPr>
            <a:r>
              <a:rPr lang="de-DE" sz="2400" b="1" dirty="0"/>
              <a:t>Ursache: </a:t>
            </a:r>
            <a:br>
              <a:rPr lang="de-DE" sz="2400" b="1" dirty="0"/>
            </a:br>
            <a:r>
              <a:rPr lang="de-DE" sz="2400" dirty="0"/>
              <a:t>INTEL verwendet speziellen Divisions-Algorithmus Radix-4 SRT Algorithmus. Vorteil: 2 Bits des Quotienten pro Takt </a:t>
            </a:r>
            <a:br>
              <a:rPr lang="de-DE" sz="2400" dirty="0"/>
            </a:br>
            <a:r>
              <a:rPr lang="de-DE" sz="2400" dirty="0"/>
              <a:t>Tabelle sollte 1066 Einträge haben.  Durch fehlerhafte FOR-Schleife wurden nur 1061 geladen und in den Chip aufgenommen. </a:t>
            </a:r>
            <a:br>
              <a:rPr lang="de-DE" sz="2400" b="1" dirty="0"/>
            </a:br>
            <a:endParaRPr lang="de-DE" sz="600" b="1" dirty="0"/>
          </a:p>
          <a:p>
            <a:pPr marL="0" indent="0">
              <a:buNone/>
            </a:pPr>
            <a:r>
              <a:rPr lang="de-CH" sz="2400" b="1" dirty="0"/>
              <a:t>Auswirkungen:</a:t>
            </a:r>
            <a:r>
              <a:rPr lang="de-DE" sz="2400" b="1" dirty="0"/>
              <a:t> </a:t>
            </a:r>
          </a:p>
          <a:p>
            <a:pPr marL="0" indent="0">
              <a:lnSpc>
                <a:spcPct val="120000"/>
              </a:lnSpc>
              <a:spcBef>
                <a:spcPts val="0"/>
              </a:spcBef>
              <a:buNone/>
            </a:pPr>
            <a:r>
              <a:rPr lang="de-DE" sz="2400" dirty="0"/>
              <a:t>Einige falsche Ergebnisse bei Gleitpunkt-Division (An vierter Dezimalstelle)</a:t>
            </a:r>
            <a:br>
              <a:rPr lang="de-DE" sz="2400" dirty="0"/>
            </a:br>
            <a:r>
              <a:rPr lang="de-DE" sz="2400" dirty="0"/>
              <a:t>Häufigkeit bei normalem Benutzer:  Alle 27000 Jahre einmal (laut INTEL)</a:t>
            </a:r>
          </a:p>
          <a:p>
            <a:pPr marL="0" indent="0">
              <a:lnSpc>
                <a:spcPct val="120000"/>
              </a:lnSpc>
              <a:spcBef>
                <a:spcPts val="0"/>
              </a:spcBef>
              <a:buNone/>
            </a:pPr>
            <a:r>
              <a:rPr lang="de-DE" sz="2400" dirty="0"/>
              <a:t>Verlust für INTEL: &gt;400 Millionen Dollar. </a:t>
            </a:r>
            <a:endParaRPr lang="de-CH" sz="2400" dirty="0"/>
          </a:p>
        </p:txBody>
      </p:sp>
      <p:pic>
        <p:nvPicPr>
          <p:cNvPr id="5" name="Grafik 4">
            <a:extLst>
              <a:ext uri="{FF2B5EF4-FFF2-40B4-BE49-F238E27FC236}">
                <a16:creationId xmlns:a16="http://schemas.microsoft.com/office/drawing/2014/main" id="{EA86D106-B49C-4E3C-9A47-699DF613A6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02982" y="785091"/>
            <a:ext cx="1778000" cy="1422400"/>
          </a:xfrm>
          <a:prstGeom prst="rect">
            <a:avLst/>
          </a:prstGeom>
        </p:spPr>
      </p:pic>
    </p:spTree>
    <p:extLst>
      <p:ext uri="{BB962C8B-B14F-4D97-AF65-F5344CB8AC3E}">
        <p14:creationId xmlns:p14="http://schemas.microsoft.com/office/powerpoint/2010/main" val="1367713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838200" y="365126"/>
            <a:ext cx="10515600" cy="1029566"/>
          </a:xfrm>
        </p:spPr>
        <p:txBody>
          <a:bodyPr/>
          <a:lstStyle/>
          <a:p>
            <a:r>
              <a:rPr lang="de-CH" b="1" dirty="0"/>
              <a:t>Eisenbahnstellwerk Hamburg-Altona </a:t>
            </a:r>
            <a:r>
              <a:rPr lang="de-DE" b="1" dirty="0"/>
              <a:t>1995</a:t>
            </a:r>
            <a:endParaRPr lang="de-CH" dirty="0"/>
          </a:p>
        </p:txBody>
      </p:sp>
      <p:sp>
        <p:nvSpPr>
          <p:cNvPr id="3" name="Inhaltsplatzhalter 2"/>
          <p:cNvSpPr>
            <a:spLocks noGrp="1"/>
          </p:cNvSpPr>
          <p:nvPr>
            <p:ph idx="1"/>
          </p:nvPr>
        </p:nvSpPr>
        <p:spPr>
          <a:xfrm>
            <a:off x="838198" y="1170838"/>
            <a:ext cx="6575323" cy="2712904"/>
          </a:xfrm>
        </p:spPr>
        <p:txBody>
          <a:bodyPr>
            <a:normAutofit fontScale="92500"/>
          </a:bodyPr>
          <a:lstStyle/>
          <a:p>
            <a:pPr marL="0" indent="0">
              <a:lnSpc>
                <a:spcPct val="120000"/>
              </a:lnSpc>
              <a:spcBef>
                <a:spcPts val="0"/>
              </a:spcBef>
              <a:buNone/>
            </a:pPr>
            <a:r>
              <a:rPr lang="de-DE" sz="2400" dirty="0"/>
              <a:t>1995 soll altes Stellwerk Altona mit 50 Angestellten  ersetzt werden durch INTEL-486 Echt-Zeit-System. Vorteil: Nur noch 10 Personen nötig zum Betrieb. Nach Inbetriebnahme am 13.3.95 Absturz des Rechners. </a:t>
            </a:r>
            <a:r>
              <a:rPr lang="de-DE" sz="2400" dirty="0" err="1"/>
              <a:t>Schliessen</a:t>
            </a:r>
            <a:r>
              <a:rPr lang="de-DE" sz="2400" dirty="0"/>
              <a:t> des Stellwerks erzeugte Verkehrschaos </a:t>
            </a:r>
            <a:br>
              <a:rPr lang="de-DE" sz="2400" dirty="0"/>
            </a:br>
            <a:r>
              <a:rPr lang="de-DE" sz="2400" dirty="0"/>
              <a:t>mit Auswirkungen im gesamten Bundesbahnverkehr.</a:t>
            </a:r>
            <a:br>
              <a:rPr lang="de-DE" sz="800" b="1" dirty="0"/>
            </a:br>
            <a:endParaRPr lang="de-DE" sz="800" b="1" dirty="0"/>
          </a:p>
        </p:txBody>
      </p:sp>
      <p:pic>
        <p:nvPicPr>
          <p:cNvPr id="5" name="Grafik 4">
            <a:extLst>
              <a:ext uri="{FF2B5EF4-FFF2-40B4-BE49-F238E27FC236}">
                <a16:creationId xmlns:a16="http://schemas.microsoft.com/office/drawing/2014/main" id="{4A4705CE-4E49-4EFF-9629-6291F366DA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6143" y="1222457"/>
            <a:ext cx="4363139" cy="3272354"/>
          </a:xfrm>
          <a:prstGeom prst="rect">
            <a:avLst/>
          </a:prstGeom>
        </p:spPr>
      </p:pic>
      <p:sp>
        <p:nvSpPr>
          <p:cNvPr id="6" name="Rechteck 5">
            <a:extLst>
              <a:ext uri="{FF2B5EF4-FFF2-40B4-BE49-F238E27FC236}">
                <a16:creationId xmlns:a16="http://schemas.microsoft.com/office/drawing/2014/main" id="{027F31AF-A77E-4128-BDCB-19458BF9A001}"/>
              </a:ext>
            </a:extLst>
          </p:cNvPr>
          <p:cNvSpPr/>
          <p:nvPr/>
        </p:nvSpPr>
        <p:spPr>
          <a:xfrm>
            <a:off x="838198" y="4040635"/>
            <a:ext cx="10911350" cy="2006703"/>
          </a:xfrm>
          <a:prstGeom prst="rect">
            <a:avLst/>
          </a:prstGeom>
        </p:spPr>
        <p:txBody>
          <a:bodyPr wrap="square">
            <a:spAutoFit/>
          </a:bodyPr>
          <a:lstStyle/>
          <a:p>
            <a:pPr>
              <a:lnSpc>
                <a:spcPct val="120000"/>
              </a:lnSpc>
            </a:pPr>
            <a:r>
              <a:rPr lang="de-DE" sz="2000" b="1" dirty="0"/>
              <a:t>Ursache und </a:t>
            </a:r>
            <a:r>
              <a:rPr lang="de-CH" sz="2000" b="1" dirty="0"/>
              <a:t>Auswirkungen:</a:t>
            </a:r>
            <a:r>
              <a:rPr lang="de-DE" sz="2000" b="1" dirty="0"/>
              <a:t> </a:t>
            </a:r>
            <a:br>
              <a:rPr lang="de-DE" sz="2000" b="1" dirty="0"/>
            </a:br>
            <a:r>
              <a:rPr lang="de-DE" sz="2000" dirty="0"/>
              <a:t>Bei starkem Zugverkehr versucht das System einen Kellerspeicher (Stack) mit 4 </a:t>
            </a:r>
            <a:r>
              <a:rPr lang="de-DE" sz="2000" dirty="0" err="1"/>
              <a:t>kBytes</a:t>
            </a:r>
            <a:r>
              <a:rPr lang="de-DE" sz="2000" dirty="0"/>
              <a:t> </a:t>
            </a:r>
            <a:br>
              <a:rPr lang="de-DE" sz="2000" dirty="0"/>
            </a:br>
            <a:r>
              <a:rPr lang="de-DE" sz="2000" dirty="0"/>
              <a:t>im RAM-Speicher anzulegen. Benötigt und vorhanden waren eigentlich nur 3.5 </a:t>
            </a:r>
            <a:r>
              <a:rPr lang="de-DE" sz="2000" dirty="0" err="1"/>
              <a:t>kByte</a:t>
            </a:r>
            <a:r>
              <a:rPr lang="de-DE" sz="2000" dirty="0"/>
              <a:t>.</a:t>
            </a:r>
          </a:p>
          <a:p>
            <a:pPr>
              <a:lnSpc>
                <a:spcPct val="120000"/>
              </a:lnSpc>
            </a:pPr>
            <a:r>
              <a:rPr lang="de-DE" sz="2000" dirty="0"/>
              <a:t>Absturz! </a:t>
            </a:r>
            <a:r>
              <a:rPr lang="de-CH" sz="2000" dirty="0"/>
              <a:t>Keine manuelle Ersatzsteuerung möglich.</a:t>
            </a:r>
            <a:br>
              <a:rPr lang="de-DE" sz="2000" b="1" dirty="0"/>
            </a:br>
            <a:endParaRPr lang="de-DE" sz="500" b="1" dirty="0"/>
          </a:p>
          <a:p>
            <a:pPr>
              <a:lnSpc>
                <a:spcPct val="120000"/>
              </a:lnSpc>
            </a:pPr>
            <a:r>
              <a:rPr lang="de-DE" sz="2000" dirty="0"/>
              <a:t>Reparatur durch Hersteller Siemens nach einigen Tagen durch Hinzufügen von 0.5 Mega-Byte.</a:t>
            </a:r>
            <a:endParaRPr lang="de-CH" sz="2000" dirty="0"/>
          </a:p>
        </p:txBody>
      </p:sp>
    </p:spTree>
    <p:extLst>
      <p:ext uri="{BB962C8B-B14F-4D97-AF65-F5344CB8AC3E}">
        <p14:creationId xmlns:p14="http://schemas.microsoft.com/office/powerpoint/2010/main" val="3522282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468581" y="539981"/>
            <a:ext cx="9144000" cy="563562"/>
          </a:xfrm>
        </p:spPr>
        <p:txBody>
          <a:bodyPr>
            <a:normAutofit fontScale="90000"/>
          </a:bodyPr>
          <a:lstStyle/>
          <a:p>
            <a:r>
              <a:rPr lang="de-CH" b="1" dirty="0"/>
              <a:t>Ariane 5 beim Erstflug 1996</a:t>
            </a:r>
          </a:p>
        </p:txBody>
      </p:sp>
      <p:pic>
        <p:nvPicPr>
          <p:cNvPr id="4" name="Grafik 3"/>
          <p:cNvPicPr>
            <a:picLocks noChangeAspect="1"/>
          </p:cNvPicPr>
          <p:nvPr/>
        </p:nvPicPr>
        <p:blipFill>
          <a:blip r:embed="rId2"/>
          <a:stretch>
            <a:fillRect/>
          </a:stretch>
        </p:blipFill>
        <p:spPr>
          <a:xfrm>
            <a:off x="498679" y="1103543"/>
            <a:ext cx="4422811" cy="4429125"/>
          </a:xfrm>
          <a:prstGeom prst="rect">
            <a:avLst/>
          </a:prstGeom>
        </p:spPr>
      </p:pic>
      <p:pic>
        <p:nvPicPr>
          <p:cNvPr id="5" name="Grafik 4"/>
          <p:cNvPicPr>
            <a:picLocks noChangeAspect="1"/>
          </p:cNvPicPr>
          <p:nvPr/>
        </p:nvPicPr>
        <p:blipFill>
          <a:blip r:embed="rId3"/>
          <a:stretch>
            <a:fillRect/>
          </a:stretch>
        </p:blipFill>
        <p:spPr>
          <a:xfrm>
            <a:off x="5643418" y="1103543"/>
            <a:ext cx="4886355" cy="3476626"/>
          </a:xfrm>
          <a:prstGeom prst="rect">
            <a:avLst/>
          </a:prstGeom>
        </p:spPr>
      </p:pic>
      <p:sp>
        <p:nvSpPr>
          <p:cNvPr id="6" name="Inhaltsplatzhalter 2">
            <a:extLst>
              <a:ext uri="{FF2B5EF4-FFF2-40B4-BE49-F238E27FC236}">
                <a16:creationId xmlns:a16="http://schemas.microsoft.com/office/drawing/2014/main" id="{FF52620F-D967-4E98-89E4-52D37846ED67}"/>
              </a:ext>
            </a:extLst>
          </p:cNvPr>
          <p:cNvSpPr txBox="1">
            <a:spLocks/>
          </p:cNvSpPr>
          <p:nvPr/>
        </p:nvSpPr>
        <p:spPr>
          <a:xfrm>
            <a:off x="4921490" y="4875137"/>
            <a:ext cx="7270510" cy="15582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de-CH" dirty="0"/>
              <a:t>4 Satelliten verloren: 400-500 M Euro</a:t>
            </a:r>
          </a:p>
          <a:p>
            <a:pPr algn="l"/>
            <a:r>
              <a:rPr lang="de-DE" dirty="0"/>
              <a:t>2 Jahre Verzug im Entwicklungsprogramm: &gt; 500 M Euro</a:t>
            </a:r>
          </a:p>
        </p:txBody>
      </p:sp>
    </p:spTree>
    <p:extLst>
      <p:ext uri="{BB962C8B-B14F-4D97-AF65-F5344CB8AC3E}">
        <p14:creationId xmlns:p14="http://schemas.microsoft.com/office/powerpoint/2010/main" val="3377932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838200" y="365126"/>
            <a:ext cx="10515600" cy="724766"/>
          </a:xfrm>
        </p:spPr>
        <p:txBody>
          <a:bodyPr>
            <a:normAutofit/>
          </a:bodyPr>
          <a:lstStyle/>
          <a:p>
            <a:r>
              <a:rPr lang="de-CH" sz="3600" b="1" dirty="0">
                <a:latin typeface="+mn-lt"/>
              </a:rPr>
              <a:t>Chronik der Ereignisse:</a:t>
            </a:r>
          </a:p>
        </p:txBody>
      </p:sp>
      <p:sp>
        <p:nvSpPr>
          <p:cNvPr id="3" name="Inhaltsplatzhalter 2"/>
          <p:cNvSpPr>
            <a:spLocks noGrp="1"/>
          </p:cNvSpPr>
          <p:nvPr>
            <p:ph idx="1"/>
          </p:nvPr>
        </p:nvSpPr>
        <p:spPr>
          <a:xfrm>
            <a:off x="838199" y="988290"/>
            <a:ext cx="10965873" cy="5504583"/>
          </a:xfrm>
        </p:spPr>
        <p:txBody>
          <a:bodyPr>
            <a:normAutofit fontScale="92500" lnSpcReduction="20000"/>
          </a:bodyPr>
          <a:lstStyle/>
          <a:p>
            <a:r>
              <a:rPr lang="de-DE" dirty="0"/>
              <a:t>Die Software für das Trägheitsnavigationssystem wird unverändert von der Ariane 4 übernommen. Ein Test dieser Software unterbleibt daher.</a:t>
            </a:r>
          </a:p>
          <a:p>
            <a:r>
              <a:rPr lang="de-DE" dirty="0"/>
              <a:t>Die übrigen Systeme der Rakete werden komponentenweise gründlich getestet. Ein gemeinsamer Test der gesamten Steuerungssoftware der Rakete unterbleibt aus Kosten- und Machbarkeitsgründen.</a:t>
            </a:r>
          </a:p>
          <a:p>
            <a:r>
              <a:rPr lang="de-DE" dirty="0"/>
              <a:t>In der Software für das Trägheitsnavigationssystem gibt es eine </a:t>
            </a:r>
            <a:r>
              <a:rPr lang="de-DE" dirty="0" err="1"/>
              <a:t>Abgleichsfunktion</a:t>
            </a:r>
            <a:r>
              <a:rPr lang="de-DE" dirty="0"/>
              <a:t>, deren Werte eigentlich nur sinnvoll sind, solange die Rakete noch nicht fliegt. Diese Funktion arbeitet programmgemäß bis ca. 40 s nach Zünden der Triebwerke (H0) weiter, weil das bei der Ariane 4 im Fall eines </a:t>
            </a:r>
            <a:r>
              <a:rPr lang="de-DE" dirty="0" err="1"/>
              <a:t>Countdownabbruchs</a:t>
            </a:r>
            <a:r>
              <a:rPr lang="de-DE" dirty="0"/>
              <a:t> kurz vor dem Abheben sinnvoll war.</a:t>
            </a:r>
          </a:p>
          <a:p>
            <a:r>
              <a:rPr lang="de-DE" dirty="0"/>
              <a:t>Flug 501 startet am 4. Juni 1996. Die Triebwerke zünden um H0=9:33:59 Ortszeit. Die ersten 36 Sekunden des Flugs verlaufen normal.</a:t>
            </a:r>
          </a:p>
          <a:p>
            <a:r>
              <a:rPr lang="de-DE" dirty="0"/>
              <a:t>Da die Ariane 5 eine andere Flugbahn hat als die Ariane 4, berechnet die </a:t>
            </a:r>
            <a:r>
              <a:rPr lang="de-DE" dirty="0" err="1"/>
              <a:t>Abgleichsfunktion</a:t>
            </a:r>
            <a:r>
              <a:rPr lang="de-DE" dirty="0"/>
              <a:t> einen Wert, der wesentlich grösser ist als erwartet.</a:t>
            </a:r>
          </a:p>
          <a:p>
            <a:r>
              <a:rPr lang="de-DE" dirty="0"/>
              <a:t>Bei der Konvertierung dieses Werts von einer 64 Bit Gleitkommazahl in eine 16-Bit Festkommazahl tritt ein Überlauf ein; der Rechner erzeugt </a:t>
            </a:r>
            <a:r>
              <a:rPr lang="de-CH" dirty="0"/>
              <a:t>eine Ausnahmebedingung.</a:t>
            </a:r>
          </a:p>
        </p:txBody>
      </p:sp>
    </p:spTree>
    <p:extLst>
      <p:ext uri="{BB962C8B-B14F-4D97-AF65-F5344CB8AC3E}">
        <p14:creationId xmlns:p14="http://schemas.microsoft.com/office/powerpoint/2010/main" val="2965795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a:xfrm>
            <a:off x="838200" y="203200"/>
            <a:ext cx="10515600" cy="6271491"/>
          </a:xfrm>
        </p:spPr>
        <p:txBody>
          <a:bodyPr>
            <a:noAutofit/>
          </a:bodyPr>
          <a:lstStyle/>
          <a:p>
            <a:r>
              <a:rPr lang="de-DE" sz="2400" dirty="0"/>
              <a:t>Die Ausnahmebedingung wird nicht behandelt (obwohl dies in der verwendeten Programmiersprache Ada möglich wäre).</a:t>
            </a:r>
          </a:p>
          <a:p>
            <a:r>
              <a:rPr lang="de-DE" sz="2400" dirty="0"/>
              <a:t>Der Trägheitsnavigationsrechner setzt eine Fehlermeldung an den Steuerrechner der Rakete ab und schaltet sich 36,75 s nach H0 ab.</a:t>
            </a:r>
          </a:p>
          <a:p>
            <a:r>
              <a:rPr lang="de-DE" sz="2400" dirty="0"/>
              <a:t>Das Trägheitsnavigationssystem ist aus Sicherheitsgründen doppelt ausgelegt. Ein Umschalten auf das zweite System schlägt fehl, da dieses System das gleiche Problem gehabt und sich vor 0,05 s ebenfalls </a:t>
            </a:r>
            <a:r>
              <a:rPr lang="de-CH" sz="2400" dirty="0"/>
              <a:t>abgeschaltet hat.</a:t>
            </a:r>
          </a:p>
          <a:p>
            <a:r>
              <a:rPr lang="de-DE" sz="2400" dirty="0"/>
              <a:t>Die Software des Steuerrechners ist auf den Ausfall beider Trägheitsnavigationssysteme nicht ausgelegt und interpretiert die gemeldeten </a:t>
            </a:r>
            <a:r>
              <a:rPr lang="de-CH" sz="2400" dirty="0"/>
              <a:t>Fehlercodes als Flugbahndaten.</a:t>
            </a:r>
          </a:p>
          <a:p>
            <a:r>
              <a:rPr lang="de-DE" sz="2400" dirty="0"/>
              <a:t>Dies führt zu völlig unsinnigen Berechnungen und als Folge davon zu unsinnigen Stellbefehlen an die Steuerdüsen der Rakete: Diese werden bis zum maximal möglichen Anstellwinkel ausgeschwenkt.</a:t>
            </a:r>
          </a:p>
          <a:p>
            <a:r>
              <a:rPr lang="de-DE" sz="2400" dirty="0"/>
              <a:t>Aufgrund der resultierenden Scherkräfte zerbricht die Rakete, worauf der </a:t>
            </a:r>
            <a:r>
              <a:rPr lang="de-CH" sz="2400" dirty="0"/>
              <a:t>Selbstzerstörungsmechanismus ordnungsgemäß anspricht. Dieser </a:t>
            </a:r>
            <a:r>
              <a:rPr lang="de-DE" sz="2400" dirty="0"/>
              <a:t>sprengt Rakete und Nutzlast und verhindert damit, dass größere Trümmerteile auf den Boden fallen.</a:t>
            </a:r>
            <a:endParaRPr lang="de-CH" sz="2400" dirty="0"/>
          </a:p>
        </p:txBody>
      </p:sp>
    </p:spTree>
    <p:extLst>
      <p:ext uri="{BB962C8B-B14F-4D97-AF65-F5344CB8AC3E}">
        <p14:creationId xmlns:p14="http://schemas.microsoft.com/office/powerpoint/2010/main" val="3248763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1209</Words>
  <Application>Microsoft Office PowerPoint</Application>
  <PresentationFormat>Breitbild</PresentationFormat>
  <Paragraphs>51</Paragraphs>
  <Slides>9</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9</vt:i4>
      </vt:variant>
    </vt:vector>
  </HeadingPairs>
  <TitlesOfParts>
    <vt:vector size="14" baseType="lpstr">
      <vt:lpstr>Arial</vt:lpstr>
      <vt:lpstr>Calibri</vt:lpstr>
      <vt:lpstr>Calibri Light</vt:lpstr>
      <vt:lpstr>Wingdings</vt:lpstr>
      <vt:lpstr>Office Theme</vt:lpstr>
      <vt:lpstr>Venus Mariner 1 geht 1962 unterwegs verloren</vt:lpstr>
      <vt:lpstr>Stanislaw Petrow verhindert 3.Weltkrieg (1983)</vt:lpstr>
      <vt:lpstr>Das Denver-Koffer-Debakel (1989)</vt:lpstr>
      <vt:lpstr>Patriot-Raketen-Fehler 1991</vt:lpstr>
      <vt:lpstr>Pentium Prozessor Divisions-Fehler 1994</vt:lpstr>
      <vt:lpstr>Eisenbahnstellwerk Hamburg-Altona 1995</vt:lpstr>
      <vt:lpstr>Ariane 5 beim Erstflug 1996</vt:lpstr>
      <vt:lpstr>Chronik der Ereignisse:</vt:lpstr>
      <vt:lpstr>PowerPoint-Präsentation</vt:lpstr>
    </vt:vector>
  </TitlesOfParts>
  <Company>C:\Users\Administrator\Desktop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Ariane 5 beim Erstflug</dc:title>
  <dc:creator>Bucher Roland</dc:creator>
  <cp:lastModifiedBy>Flavio Rebmann</cp:lastModifiedBy>
  <cp:revision>13</cp:revision>
  <dcterms:created xsi:type="dcterms:W3CDTF">2016-01-28T17:21:09Z</dcterms:created>
  <dcterms:modified xsi:type="dcterms:W3CDTF">2025-12-10T17:44:58Z</dcterms:modified>
</cp:coreProperties>
</file>